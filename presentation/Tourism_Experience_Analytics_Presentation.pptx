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2a4155958d469e" /><Relationship Type="http://schemas.openxmlformats.org/officeDocument/2006/relationships/extended-properties" Target="/docProps/app.xml" Id="R1025a53d79624031" /><Relationship Type="http://schemas.openxmlformats.org/officeDocument/2006/relationships/officeDocument" Target="/ppt/presentation.xml" Id="R4bd369314b9043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956fbdfcc34405"/>
  </p:sldMasterIdLst>
  <p:notesMasterIdLst>
    <p:notesMasterId xmlns:r="http://schemas.openxmlformats.org/officeDocument/2006/relationships" r:id="Re24f8dbbd85548ea"/>
  </p:notesMasterIdLst>
  <p:sldIdLst>
    <p:sldId xmlns:r="http://schemas.openxmlformats.org/officeDocument/2006/relationships" id="256" r:id="Reb73e9c910b44fb8"/>
    <p:sldId xmlns:r="http://schemas.openxmlformats.org/officeDocument/2006/relationships" id="257" r:id="R3258546ebb3f42c2"/>
    <p:sldId xmlns:r="http://schemas.openxmlformats.org/officeDocument/2006/relationships" id="258" r:id="Rf6b2544c0ad9438e"/>
    <p:sldId xmlns:r="http://schemas.openxmlformats.org/officeDocument/2006/relationships" id="259" r:id="R698a591c7e4548eb"/>
    <p:sldId xmlns:r="http://schemas.openxmlformats.org/officeDocument/2006/relationships" id="260" r:id="R9c07303a1ab34d23"/>
    <p:sldId xmlns:r="http://schemas.openxmlformats.org/officeDocument/2006/relationships" id="261" r:id="Ra9d3b1a2bfc34cd6"/>
    <p:sldId xmlns:r="http://schemas.openxmlformats.org/officeDocument/2006/relationships" id="262" r:id="Rd8fd7ce4a6d544ab"/>
    <p:sldId xmlns:r="http://schemas.openxmlformats.org/officeDocument/2006/relationships" id="263" r:id="R580e9bb5f86940db"/>
    <p:sldId xmlns:r="http://schemas.openxmlformats.org/officeDocument/2006/relationships" id="264" r:id="R8c839e1e4a874f72"/>
    <p:sldId xmlns:r="http://schemas.openxmlformats.org/officeDocument/2006/relationships" id="265" r:id="Rc31321e8aa6b46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353bf315d940a8" /><Relationship Type="http://schemas.openxmlformats.org/officeDocument/2006/relationships/slideMaster" Target="/ppt/slideMasters/slideMaster1.xml" Id="R82956fbdfcc34405" /><Relationship Type="http://schemas.openxmlformats.org/officeDocument/2006/relationships/notesMaster" Target="/ppt/notesMasters/notesMaster1.xml" Id="Re24f8dbbd85548ea" /><Relationship Type="http://schemas.openxmlformats.org/officeDocument/2006/relationships/presProps" Target="/ppt/presProps.xml" Id="Ra6779a2121324f95" /><Relationship Type="http://schemas.openxmlformats.org/officeDocument/2006/relationships/tableStyles" Target="/ppt/tableStyles.xml" Id="Rf66ddf78e1fa4625" /><Relationship Type="http://schemas.openxmlformats.org/officeDocument/2006/relationships/slide" Target="/ppt/slides/slide1.xml" Id="Reb73e9c910b44fb8" /><Relationship Type="http://schemas.openxmlformats.org/officeDocument/2006/relationships/slide" Target="/ppt/slides/slide2.xml" Id="R3258546ebb3f42c2" /><Relationship Type="http://schemas.openxmlformats.org/officeDocument/2006/relationships/slide" Target="/ppt/slides/slide3.xml" Id="Rf6b2544c0ad9438e" /><Relationship Type="http://schemas.openxmlformats.org/officeDocument/2006/relationships/slide" Target="/ppt/slides/slide4.xml" Id="R698a591c7e4548eb" /><Relationship Type="http://schemas.openxmlformats.org/officeDocument/2006/relationships/slide" Target="/ppt/slides/slide5.xml" Id="R9c07303a1ab34d23" /><Relationship Type="http://schemas.openxmlformats.org/officeDocument/2006/relationships/slide" Target="/ppt/slides/slide6.xml" Id="Ra9d3b1a2bfc34cd6" /><Relationship Type="http://schemas.openxmlformats.org/officeDocument/2006/relationships/slide" Target="/ppt/slides/slide7.xml" Id="Rd8fd7ce4a6d544ab" /><Relationship Type="http://schemas.openxmlformats.org/officeDocument/2006/relationships/slide" Target="/ppt/slides/slide8.xml" Id="R580e9bb5f86940db" /><Relationship Type="http://schemas.openxmlformats.org/officeDocument/2006/relationships/slide" Target="/ppt/slides/slide9.xml" Id="R8c839e1e4a874f72" /><Relationship Type="http://schemas.openxmlformats.org/officeDocument/2006/relationships/slide" Target="/ppt/slides/slide10.xml" Id="Rc31321e8aa6b46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da6d3738b84a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7dcb0212844f8d" /><Relationship Type="http://schemas.openxmlformats.org/officeDocument/2006/relationships/notesMaster" Target="/ppt/notesMasters/notesMaster1.xml" Id="R631426e4b6d142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00e314fd544609" /><Relationship Type="http://schemas.openxmlformats.org/officeDocument/2006/relationships/notesMaster" Target="/ppt/notesMasters/notesMaster1.xml" Id="R405bd5a45f7249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14391cb3894cb4" /><Relationship Type="http://schemas.openxmlformats.org/officeDocument/2006/relationships/notesMaster" Target="/ppt/notesMasters/notesMaster1.xml" Id="Ra44702fd5f7740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94563bfde84648" /><Relationship Type="http://schemas.openxmlformats.org/officeDocument/2006/relationships/notesMaster" Target="/ppt/notesMasters/notesMaster1.xml" Id="R19f8040538e148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118df1971a40e8" /><Relationship Type="http://schemas.openxmlformats.org/officeDocument/2006/relationships/notesMaster" Target="/ppt/notesMasters/notesMaster1.xml" Id="R90980b427b814c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289535a4cd4279" /><Relationship Type="http://schemas.openxmlformats.org/officeDocument/2006/relationships/notesMaster" Target="/ppt/notesMasters/notesMaster1.xml" Id="R4ace5903ae3f40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b916fc6a644f15" /><Relationship Type="http://schemas.openxmlformats.org/officeDocument/2006/relationships/notesMaster" Target="/ppt/notesMasters/notesMaster1.xml" Id="Rfe53b0fe16834f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2faa0c54b54568" /><Relationship Type="http://schemas.openxmlformats.org/officeDocument/2006/relationships/notesMaster" Target="/ppt/notesMasters/notesMaster1.xml" Id="Redade3a5250343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8f3037506545ec" /><Relationship Type="http://schemas.openxmlformats.org/officeDocument/2006/relationships/notesMaster" Target="/ppt/notesMasters/notesMaster1.xml" Id="R61a3b9d0c5e840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61aee80e5e43ed" /><Relationship Type="http://schemas.openxmlformats.org/officeDocument/2006/relationships/notesMaster" Target="/ppt/notesMasters/notesMaster1.xml" Id="R83c95e8a67c841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tourism dataset and project analysis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requirements and implemented notebooks.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data/processed/master_dataset.csv.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reports/data_understanding and reports/data_quality.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master_dataset.csv. Counts are visit transactions by VisitYear.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EDA notebook and reports/eda figures. Statements reflect supplied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models/regression/model_metadata.json. Test split: 20%, random state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models/classification/model_metadata.json and reports/classification/classification_report.csv.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models/recommendation/metadata.json and popular_recommendations.csv.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app/streamlit_app.py and project deployment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f11c73c8245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41ac2d00264d14" /><Relationship Type="http://schemas.openxmlformats.org/officeDocument/2006/relationships/slideLayout" Target="/ppt/slideLayouts/slideLayout1.xml" Id="Re64ea537338440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4ea537338440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e4db6a3c64579" /><Relationship Type="http://schemas.openxmlformats.org/officeDocument/2006/relationships/notesSlide" Target="/ppt/notesSlides/notesSlide1.xml" Id="Reb41ab25e94542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9ffbb4dcd4ee3" /><Relationship Type="http://schemas.openxmlformats.org/officeDocument/2006/relationships/notesSlide" Target="/ppt/notesSlides/notesSlide2.xml" Id="Rae05019d0d114b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d55fcd502447e" /><Relationship Type="http://schemas.openxmlformats.org/officeDocument/2006/relationships/notesSlide" Target="/ppt/notesSlides/notesSlide3.xml" Id="R78a41d3b7b924b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3bc18ef524d6e" /><Relationship Type="http://schemas.openxmlformats.org/officeDocument/2006/relationships/notesSlide" Target="/ppt/notesSlides/notesSlide4.xml" Id="R93e3dc14f25e44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ed068380b4553" /><Relationship Type="http://schemas.openxmlformats.org/officeDocument/2006/relationships/chart" Target="/ppt/slides/charts/chart1.xml" Id="Rcc2fda6a91744429" /><Relationship Type="http://schemas.openxmlformats.org/officeDocument/2006/relationships/notesSlide" Target="/ppt/notesSlides/notesSlide5.xml" Id="Rb9bf5959fc8247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3702f4bb24c81" /><Relationship Type="http://schemas.openxmlformats.org/officeDocument/2006/relationships/notesSlide" Target="/ppt/notesSlides/notesSlide6.xml" Id="R64bc291461e64b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2a7a57a444200" /><Relationship Type="http://schemas.openxmlformats.org/officeDocument/2006/relationships/notesSlide" Target="/ppt/notesSlides/notesSlide7.xml" Id="R0eb41bb7b88142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f66a002d04d02" /><Relationship Type="http://schemas.openxmlformats.org/officeDocument/2006/relationships/notesSlide" Target="/ppt/notesSlides/notesSlide8.xml" Id="R361e778f67214d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5ecf58afd4ed3" /><Relationship Type="http://schemas.openxmlformats.org/officeDocument/2006/relationships/notesSlide" Target="/ppt/notesSlides/notesSlide9.xml" Id="Rd5eb05a2a2cd4a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c58ce8c724e26" /><Relationship Type="http://schemas.openxmlformats.org/officeDocument/2006/relationships/notesSlide" Target="/ppt/notesSlides/notesSlide10.xml" Id="Read392ff8eea413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Visits</c:v>
          </c:tx>
          <c:spPr>
            <a:solidFill xmlns:a="http://schemas.openxmlformats.org/drawingml/2006/main">
              <a:srgbClr val="147D8A"/>
            </a:solidFill>
          </c:spPr>
          <c:cat>
            <c:numRef>
              <c:f>'Chart Data'!$A$2:$A$11</c:f>
              <c:numCache>
                <c:formatCode>General</c:formatCod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2983</c:v>
                </c:pt>
                <c:pt idx="1">
                  <c:v>4808</c:v>
                </c:pt>
                <c:pt idx="2">
                  <c:v>8687</c:v>
                </c:pt>
                <c:pt idx="3">
                  <c:v>12823</c:v>
                </c:pt>
                <c:pt idx="4">
                  <c:v>9444</c:v>
                </c:pt>
                <c:pt idx="5">
                  <c:v>7461</c:v>
                </c:pt>
                <c:pt idx="6">
                  <c:v>5913</c:v>
                </c:pt>
                <c:pt idx="7">
                  <c:v>529</c:v>
                </c:pt>
                <c:pt idx="8">
                  <c:v>35</c:v>
                </c:pt>
                <c:pt idx="9">
                  <c:v>247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96ED4-990B-4897-A37C-3FC367F3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Tourism Experience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EBFCF-2BBA-4946-88AC-6A8BB99F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Classification, rating prediction, and attraction recommendations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37354-0966-4C4B-83F4-4889B483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CCDC"/>
                </a:solidFill>
                <a:latin typeface="Arial"/>
                <a:ea typeface="Arial"/>
                <a:cs typeface="Arial"/>
              </a:rPr>
              <a:t>Dataset-driven project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CE42B-B2D7-46F8-8D18-C7BA1BAD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287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C47FF-B86B-4C1A-9604-CF0441BA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1571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17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52,930</a:t>
            </a:r>
          </a:p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interactions</a:t>
            </a:r>
          </a:p>
        </p:txBody>
      </p:sp>
    </p:spTree>
    <p:extLst>
      <p:ext uri="{BB962C8B-B14F-4D97-AF65-F5344CB8AC3E}">
        <p14:creationId xmlns:p14="http://schemas.microsoft.com/office/powerpoint/2010/main" val="84147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00A5C-60A6-455A-81BA-DFBAC525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43848-F7EB-4A3E-B6ED-1ECC264A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One integrated workflow from raw data to an interactive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70904-9A52-42BA-8CC6-CB1DB99F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901AE-D0DE-49AA-8806-EFFA878A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92759-AB39-47FB-9A8B-1A6381FF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57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C55FA-2515-4AF5-9682-B63A0198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Audit source tables, keys, missing values and duplicates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5D1F4-C06E-4542-9AD9-C537D78E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860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3C58C-F11D-4258-9EEB-80698316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860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Exploratory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91C47-E15B-42D9-9F14-8299C532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194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Univariate, bivariate and multivariate tourism patterns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B0F00-B9A3-4950-A73A-8BEA9BF8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147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95AC9-B0BE-47E3-B145-2F782775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147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0791A-E3D1-4410-B16C-D78BEDA2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Rating regression and visit-mode classification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C3789-2130-4B8B-8F0F-B5F1094F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434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146BA-5DD3-41FE-9216-074A04B5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434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Recommendations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CA400-C31A-43C8-BAC4-F33A3FB6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768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Cold-start-safe attraction ranking with content filters</a:t>
            </a:r>
          </a:p>
        </p:txBody>
      </p:sp>
    </p:spTree>
    <p:extLst>
      <p:ext uri="{BB962C8B-B14F-4D97-AF65-F5344CB8AC3E}">
        <p14:creationId xmlns:p14="http://schemas.microsoft.com/office/powerpoint/2010/main" val="1052229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F159D-3AB9-4493-8DF8-4D5F7681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Dataset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10B35-F5F1-4BFA-A1F2-CC72E93D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master dataset links visit transactions with user origin and attraction destination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A534E-9F8C-475E-99AA-E12F1396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BE9E4-250E-484B-82D9-53A98E5A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FBB56-1B6C-4D2B-B440-2713A509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52,930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0B2E6-3ABB-45DB-88BA-649CBABF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28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Recorded interactions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36535-F02C-4B37-B861-984A8841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Transaction-level observations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25D4B-1AA1-4437-9861-BAAC506B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DEB60-A9E8-4182-B959-D444362A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6220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33,530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D85E9-95B6-4687-9AF3-2C7FA0E9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D31A7-158C-4E56-9CE3-F7691C26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Distinct visitors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B85DF0-7458-4E8E-AA97-BE525241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2358E-B409-49B2-B9B2-04C3A559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6220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8159A-DF4F-4A0E-B023-B11C765B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28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Attractions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0EA60-C431-4015-BD72-F660F770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Destination catalog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12F05-3625-4AFF-B2B9-DD8FB019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E7EC7-E106-4A33-882E-D286302A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6220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4.16 /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B8BF72-EECF-4D61-833E-53863E66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Average rating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0DCCF-32C1-4BD3-8CD7-47BC9B2A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Observed visitor ratings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F503C-D034-453A-BBE2-4C2E411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Modeling distinction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453F5-BB0C-4B34-8368-D81BE7C2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User geography records where the tourist is from. Attraction geography records where the site is located.</a:t>
            </a:r>
          </a:p>
        </p:txBody>
      </p:sp>
    </p:spTree>
    <p:extLst>
      <p:ext uri="{BB962C8B-B14F-4D97-AF65-F5344CB8AC3E}">
        <p14:creationId xmlns:p14="http://schemas.microsoft.com/office/powerpoint/2010/main" val="1850653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CCFFEC-5849-4EB8-B7E4-94F89B8B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 preparation and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A107E-0E35-46BD-9BA5-CEAB3EAE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Raw Excel files remain untouched; processing decisions are documented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5EFEF-CE7A-4797-87ED-1E7420D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0AED2-F9F3-4C97-BBD5-B5608371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C7F48-DD55-4184-BB3A-A23BD47B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Raw preservation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50891-BA9F-44BD-870E-02D7B1A2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Original workbooks stay under data/raw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A9708-DAE6-491A-BCA0-8FD67D46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996F6-0844-4904-98B9-703CDC91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52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Quality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3839A-ABCC-44B8-8DFA-91F82627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52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Shapes, data types, missing values, duplicates and keys checked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052E6-2513-410E-977C-412F2805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6DE7C-95ED-4232-9DD9-DE0FEABF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95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Relational 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FDC9F-EB29-4DA9-BDEC-B7C465C6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956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User, attraction, city, type and mode relationships checked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E456A-9894-4F57-857F-C6CB28D2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65A0A-C1FB-4E65-BABE-736704B6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38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Cleaning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5A041-C286-49A0-B654-B0A66013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38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Only exact duplicate records are removed and logged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60D30-CCBF-4B33-B94A-1CE80567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78257-51F4-4CF8-8026-122C53A7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81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Updated Item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17296-9D44-43C0-9502-FBAE4CDB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81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Assessed separately; not automatically merged with Item</a:t>
            </a:r>
          </a:p>
        </p:txBody>
      </p:sp>
    </p:spTree>
    <p:extLst>
      <p:ext uri="{BB962C8B-B14F-4D97-AF65-F5344CB8AC3E}">
        <p14:creationId xmlns:p14="http://schemas.microsoft.com/office/powerpoint/2010/main" val="772695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8CA08-3264-4AC7-B6C8-06A82CFB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Tourism demand peaked in 2016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2545E-6BF6-4E37-AFD1-79F45DD3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Visits declined after 2016, with a pronounced disruption in 2020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66E6A-37DB-4BE4-BDDB-B82A57B0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76300" y="1809750"/>
          <a:ext xmlns:a="http://schemas.openxmlformats.org/drawingml/2006/main" cx="10287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2fda6a9174442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9E54C-5D2E-46BB-820B-4244C4E6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6262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Business implication: capacity planning and promotions should account for the historic demand cycle and disruption years.</a:t>
            </a:r>
          </a:p>
        </p:txBody>
      </p:sp>
    </p:spTree>
    <p:extLst>
      <p:ext uri="{BB962C8B-B14F-4D97-AF65-F5344CB8AC3E}">
        <p14:creationId xmlns:p14="http://schemas.microsoft.com/office/powerpoint/2010/main" val="9909293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9561A-0DD3-4465-842B-258B4CCA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EDA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288DA-1D08-47BB-867B-62679883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Univariate, bivariate, and multivariate analysis reveal how demand and ratings vary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C24E5-6EB8-4971-A359-FB815DE7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98B89-E108-435C-BF15-C7623CB9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7C023-F9D1-4237-983E-2CCA67D2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812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Univariate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A11CE-8E69-4B6A-B6D1-036F1CD9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00375"/>
            <a:ext cx="2781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Ratings are concentrated at 4 and 5. Couples is the largest visit mode.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9E29C-07A3-41CF-B347-CBF58755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26463-A5D9-4A94-8B07-ABDD353D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Bivariate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E0D91-D7A3-4D65-B943-0E50047F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2781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Ratings vary by visit mode and attraction type. Demand differs substantially by type.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B5BBE-674B-4499-89DB-298C9A94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74041-CB4A-4C66-998C-99A0D365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3812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Multivariate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80593-1507-470E-B170-A7A6A9DB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000375"/>
            <a:ext cx="2781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Attraction type, visit mode, demand volume, and mean rating can be explored together.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0EAD2-3CE4-4B18-BC72-C500EBA8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19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Top attraction types by visits: Nature &amp; Wildlife Areas, Beaches, Religious Sites, Water Parks, and Landmarks.</a:t>
            </a:r>
          </a:p>
        </p:txBody>
      </p:sp>
    </p:spTree>
    <p:extLst>
      <p:ext uri="{BB962C8B-B14F-4D97-AF65-F5344CB8AC3E}">
        <p14:creationId xmlns:p14="http://schemas.microsoft.com/office/powerpoint/2010/main" val="20085183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EAF5B-9AF9-45E6-A9EC-3D83C0AC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Rating prediction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B40EA-610C-4F2B-9B95-6BA3D5FE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Random Forest was selected after comparison with a mean-rating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77542-0730-429E-99D9-50BC4D03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6A770-04E2-4695-B9C5-2383271A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CFD44-CD4C-43BA-946D-C0CF950F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6220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0.737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0730C-34E4-4915-A932-E4FBB1B8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46055-A924-487A-987E-AB078422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Average absolute rating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0A2E9-E534-4758-A491-A1BA4502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E820A-534E-4344-9A22-88C4407B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6220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0.950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76B7D-5A24-4FC3-A00D-38ED7E06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14D51-D91E-44EF-8B69-18EE0A8A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Root mean squared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2127C-C011-4E45-B5CF-DAC4F362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93583-5E1F-4728-9DC8-6B00FF16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6220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0.042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E8ACB-EBE4-4B04-9DDD-62F22C84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R squared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4173C-0522-4635-85B8-506519D9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Limited variance explained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4565B-D1B1-49E1-B15E-909BF94F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2E5DC-B15B-46AE-B5B5-B338CED9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model provides a rating estimate, but the low R squared means it should be presented as a supporting signal rather than a precise rating forecast. App predictions are clipped to the valid 1 to 5 range.</a:t>
            </a:r>
          </a:p>
        </p:txBody>
      </p:sp>
    </p:spTree>
    <p:extLst>
      <p:ext uri="{BB962C8B-B14F-4D97-AF65-F5344CB8AC3E}">
        <p14:creationId xmlns:p14="http://schemas.microsoft.com/office/powerpoint/2010/main" val="11272174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1CC3C-0E05-4E17-9DDF-8C8AD10C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Visit-mode classification remains challenging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235B0-A6BF-45B4-A651-31C9EB9B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Class-balanced Random Forest improves minority treatment, but visit-mode signals are limited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040EE-1A2C-430D-ACA6-E6DA0969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3B69F-1591-41B2-B89F-60C20C7A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9EFC2-5AAD-4840-AF85-06D1EEAE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6220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0.357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1F239-EBD1-4F90-954A-452F4EEB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28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57011-3132-42F1-9D5A-018D3829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Overall correct predictions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178C8-43BA-4345-883D-C8880754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9550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437A4-38EF-473D-939A-B4EAA7BF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6220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0.390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7DEAB-6F95-4C12-A3A1-FAD94D1D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Macro 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D4B80-BE28-404D-91A8-82B2D787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Average recall across all modes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F1159-5B93-4087-8973-B4D28A7C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2428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87418-EE09-408C-9DD6-31FBF856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6220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0.278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48486-AAE7-4F48-AA2F-6F52138D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28950"/>
            <a:ext cx="2085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3B5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3B56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11C80-CFEA-479B-BCBD-A241CC66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Balanced class performance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3D509-604E-4BBB-9D8C-9E4E7655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Why macro F1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C6E9A-815A-4E4F-A99A-30619EDB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five classes are imbalanced: Couples and Family dominate, while Business has far fewer observations. Macro F1 avoids allowing large classes to hide weak minority-class results.</a:t>
            </a:r>
          </a:p>
        </p:txBody>
      </p:sp>
    </p:spTree>
    <p:extLst>
      <p:ext uri="{BB962C8B-B14F-4D97-AF65-F5344CB8AC3E}">
        <p14:creationId xmlns:p14="http://schemas.microsoft.com/office/powerpoint/2010/main" val="6611202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0E5E1-D1FB-474E-AF10-CC63359F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Recommendation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C009E-6EED-451E-8487-FAFA7038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smoothed popularity baseline provides reliable recommendations for sparse data and cold-start 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B693D-8E1F-4EC9-968E-A4F6A1A7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F35CE-A935-4829-BF8D-F5293FA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6B8EF-AC90-41F6-9493-E29B8D7C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Interaction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79CBD-8649-429D-A67A-747C88A0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2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33,530 users × 30 attractions</a:t>
            </a:r>
          </a:p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94.7% sparse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02209-F80E-46B8-8954-EF6A36A9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33625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3AEBF-8A42-4776-8994-811D2899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Scoring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48E78-7829-499A-97CB-50C19868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44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Interaction volume +</a:t>
            </a:r>
          </a:p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smoothed average rating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D614F-1F16-40B1-A866-10B6DCCD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90EED-CF46-4CF8-A054-81854632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193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Filtering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E9B26-4516-4588-80D9-71B0361B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Attraction type and</a:t>
            </a:r>
          </a:p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location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5CEFF-05FB-4CDD-A62F-4E3DC17C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33625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19FC2-9D3F-4C58-982A-D55AF638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193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4157D-157F-4633-A4ED-8F957E5A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1952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82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Ranked popular attractions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new 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C306A-FFDB-4DCE-9703-9244EED5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Collaborative filtering was not made the default because sparse user-attraction interactions make neighbor scores unstable.</a:t>
            </a:r>
          </a:p>
        </p:txBody>
      </p:sp>
    </p:spTree>
    <p:extLst>
      <p:ext uri="{BB962C8B-B14F-4D97-AF65-F5344CB8AC3E}">
        <p14:creationId xmlns:p14="http://schemas.microsoft.com/office/powerpoint/2010/main" val="20343969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81BA8-8273-4467-8491-9F7B05C0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Streamlit application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93732-A792-4F6A-ACC0-267CBAD8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deployed app uses saved pipelines and processed data; it does not retrain at 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0FA44-EE00-48CA-9648-E98A3CB4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B9880-537C-459C-B2C8-627D747C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Tourism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D03A3-48D0-497B-AD9E-24BB579D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Visit modes, attraction demand and rating summaries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7C7F0-1E85-4381-8F3C-59FF35B9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Rating prediction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DE4A2-3BF5-40AF-A80A-23F2B016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Input profile features and receive a 1 to 5 rating estimate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A41CD-E7BF-49C5-BAD4-3976F79B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Visit mode prediction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4FEF0-C513-44C8-8B55-B8EF9FBE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194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Predicted class with model probabilities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74710-E012-45E3-8614-8E1DCDDD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Attraction recommendations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02FC3-0A73-448C-A541-898FA990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243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Ranked sites, plus attraction-type and city filters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306AB-0471-4DB8-81F5-282B946E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D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7D8A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69832-15C4-4C7A-9EA7-B927F429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09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Add behavioral profile features, richer attraction content, and time-ordered interactions for stronger modeling and recommender evaluation.</a:t>
            </a:r>
          </a:p>
        </p:txBody>
      </p:sp>
    </p:spTree>
    <p:extLst>
      <p:ext uri="{BB962C8B-B14F-4D97-AF65-F5344CB8AC3E}">
        <p14:creationId xmlns:p14="http://schemas.microsoft.com/office/powerpoint/2010/main" val="1329202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2026-09-05T10:51:38.3950000Z</dcterms:created>
  <dcterms:modified xsi:type="dcterms:W3CDTF">2026-09-05T10:51:38.3950000Z</dcterms:modified>
</coreProperties>
</file>